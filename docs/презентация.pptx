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/>
              <a:t>Графовая СУБД: курсовая работа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/>
              <a:t>Хранение и редактирование графов (Neo4j + клиент wxPython)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Актуальность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143000"/>
            <a:ext cx="4434840" cy="5394960"/>
          </a:xfrm>
        </p:spPr>
        <p:txBody>
          <a:bodyPr/>
          <a:lstStyle/>
          <a:p>
            <a:r>
              <a:rPr/>
              <a:t>Часто данные из различных предметных областей можно представить в виде графа. В зависимости от структуры данных, граф может быть разных типов, но принцип один и тот же.</a:t>
            </a:r>
            <a:r>
              <a:rPr/>
              <a:t>Графовые базы данных, основой которых и является граф — удобное представление подобных данных в компьютере.</a:t>
            </a:r>
            <a:r>
              <a:rPr/>
              <a:t>Представленный программный комплекс позволит не только работать с уже существующими графовыми БД, но и создавать новые.</a:t>
            </a:r>
          </a:p>
        </p:txBody>
      </p:sp>
      <p:pic>
        <p:nvPicPr>
          <p:cNvPr id="4" name="Picture 3" descr="fig1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552899"/>
            <a:ext cx="4160520" cy="24837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Постановка 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/>
              <a:t>Пусть имеются некоторые предметные данные, представимые в виде графа.</a:t>
            </a:r>
            <a:r>
              <a:rPr/>
              <a:t>Задача: располагая всеми необходимыми данными для построения графа, обеспечить программную среду для реализации этой возможности, а также дополнительных возможностей (изменение, удаление, отображение).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Возможное решение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143000"/>
            <a:ext cx="4434840" cy="5394960"/>
          </a:xfrm>
        </p:spPr>
        <p:txBody>
          <a:bodyPr/>
          <a:lstStyle/>
          <a:p>
            <a:pPr>
              <a:defRPr sz="2000"/>
            </a:pPr>
            <a:r>
              <a:rPr/>
              <a:t>Программный комплекс, включающий: движок (Хранение графа) — здесь выбран Neo4j,</a:t>
            </a:r>
            <a:r>
              <a:rPr/>
              <a:t>логика работы с сервером и пользовательскими запросами (backend-часть) — REST API (FastAPI),</a:t>
            </a:r>
            <a:r>
              <a:rPr/>
              <a:t>клиент на wxPython с поддержкой доступности для программ экранного доступа.</a:t>
            </a:r>
          </a:p>
        </p:txBody>
      </p:sp>
      <p:pic>
        <p:nvPicPr>
          <p:cNvPr id="4" name="Picture 3" descr="fig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810153"/>
            <a:ext cx="4160520" cy="19692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Основные возможности программы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143000"/>
            <a:ext cx="4434840" cy="5394960"/>
          </a:xfrm>
        </p:spPr>
        <p:txBody>
          <a:bodyPr/>
          <a:lstStyle/>
          <a:p>
            <a:pPr>
              <a:defRPr sz="2000"/>
            </a:pPr>
            <a:r>
              <a:rPr/>
              <a:t>Базовые операции CRUD:</a:t>
            </a:r>
            <a:r>
              <a:rPr/>
              <a:t>Create (создание) — создание новой вершины или связи (ребра),</a:t>
            </a:r>
            <a:r>
              <a:rPr/>
              <a:t>Read (чтение) — списки и просмотр свойств,</a:t>
            </a:r>
            <a:r>
              <a:rPr/>
              <a:t>Update (обновление) — изменение уже существующих свойств,</a:t>
            </a:r>
            <a:r>
              <a:rPr/>
              <a:t>Delete — удаление связи или вершины (с опцией удаления всех относящихся к ней связей).</a:t>
            </a:r>
            <a:r>
              <a:rPr/>
              <a:t/>
            </a:r>
          </a:p>
        </p:txBody>
      </p:sp>
      <p:pic>
        <p:nvPicPr>
          <p:cNvPr id="4" name="Picture 3" descr="fig3_crud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797769"/>
            <a:ext cx="4160519" cy="19939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Основные возможности</a:t>
            </a:r>
            <a:r>
              <a:rPr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143000"/>
            <a:ext cx="4343400" cy="5394960"/>
          </a:xfrm>
        </p:spPr>
        <p:txBody>
          <a:bodyPr/>
          <a:lstStyle/>
          <a:p>
            <a:pPr>
              <a:defRPr sz="2000"/>
            </a:pPr>
            <a:r>
              <a:rPr/>
              <a:t>Приложение (клиент с графическим интерфейсом).</a:t>
            </a:r>
            <a:r>
              <a:rPr/>
              <a:t>Наглядное представление вершин и связей в таблицах;</a:t>
            </a:r>
            <a:r>
              <a:rPr/>
              <a:t>Выполнение CRUD-операций с помощью соответствующих им кнопок;</a:t>
            </a:r>
            <a:r>
              <a:rPr/>
              <a:t>Управление базами Neo4j на сервере;</a:t>
            </a:r>
            <a:r>
              <a:rPr/>
              <a:t>Импорт и экспорт существующих БД в нескольких стандартах;</a:t>
            </a:r>
            <a:r>
              <a:rPr/>
              <a:t>Визуализация графа (обычная или отдельное окно на весь экран);</a:t>
            </a:r>
            <a:r>
              <a:rPr/>
              <a:t>Доступность для скринридеров (кроме визуализации).</a:t>
            </a:r>
          </a:p>
        </p:txBody>
      </p:sp>
      <p:pic>
        <p:nvPicPr>
          <p:cNvPr id="4" name="Picture 3" descr="main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357284"/>
            <a:ext cx="4160520" cy="48749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Поддерживаемые стандарты записи графов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143000"/>
            <a:ext cx="4343400" cy="5394960"/>
          </a:xfrm>
        </p:spPr>
        <p:txBody>
          <a:bodyPr/>
          <a:lstStyle/>
          <a:p>
            <a:pPr>
              <a:defRPr sz="2000"/>
            </a:pPr>
            <a:r>
              <a:rPr/>
              <a:t>В качестве основного формата проекта выбран JSON.</a:t>
            </a:r>
            <a:r>
              <a:rPr/>
              <a:t>Также, реализована поддержка GraphML и GEXF для совместимости с другими движками и универсальности.</a:t>
            </a:r>
          </a:p>
        </p:txBody>
      </p:sp>
      <p:pic>
        <p:nvPicPr>
          <p:cNvPr id="4" name="Picture 3" descr="edit_vert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970109"/>
            <a:ext cx="4160520" cy="36493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Пример: граф зависимостей модулей и пакетов, установленных с использованием pip.</a:t>
            </a:r>
            <a:r>
              <a:rPr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143000"/>
            <a:ext cx="4206240" cy="5394960"/>
          </a:xfrm>
        </p:spPr>
        <p:txBody>
          <a:bodyPr/>
          <a:lstStyle/>
          <a:p>
            <a:pPr>
              <a:defRPr sz="2000"/>
            </a:pPr>
            <a:r>
              <a:rPr/>
              <a:t>Файл pip_dependency_graph.json.</a:t>
            </a:r>
            <a:r>
              <a:rPr/>
              <a:t>Структура: вершина — пакет или модуль.</a:t>
            </a:r>
            <a:r>
              <a:rPr/>
              <a:t>Ребро (связь) — признак "requires" (требуется для установки).</a:t>
            </a:r>
            <a:r>
              <a:rPr/>
              <a:t>В данном случае наличие этой связи показывает, что модуль a необходим для установки модуля b.</a:t>
            </a:r>
            <a:r>
              <a:rPr/>
              <a:t>Анализ: самые необходимые модули (те, что чаще всего требуются для установки других), модули, зависящие от наибольшего количества других модулей и т.д.</a:t>
            </a:r>
          </a:p>
        </p:txBody>
      </p:sp>
      <p:pic>
        <p:nvPicPr>
          <p:cNvPr id="4" name="Picture 3" descr="graph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3794760"/>
            <a:ext cx="438912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Дальнейшее развитие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/>
              <a:t>Реализация алгоритмов поиска (обход соседей, кратчайший путь и др.).</a:t>
            </a:r>
            <a:r>
              <a:rPr/>
              <a:t>Разработка веб-интерфейса как замена нынешнего клиента с целью увеличения количества поддерживаемых платформ.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Итоги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/>
              <a:t>Предложено решение задачи.</a:t>
            </a:r>
            <a:r>
              <a:rPr/>
              <a:t>Реализован программный комплекс (движок + приложение). Движок — хранение графов и обработка пользовательских запросов, приложение — более удобная работа с БД, демонстрация возможностей движка.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Спасибо за внимание!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